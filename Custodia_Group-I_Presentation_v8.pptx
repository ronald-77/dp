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713232"/>
            <a:ext cx="56692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74EBC6"/>
                </a:solidFill>
                <a:latin typeface="Comic Sans MS"/>
              </a:rPr>
              <a:t>DIGITAL FORENSICS  / 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676656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4700" b="1">
                <a:solidFill>
                  <a:srgbClr val="F8FCFF"/>
                </a:solidFill>
                <a:latin typeface="Comic Sans MS"/>
              </a:rPr>
              <a:t>CUSTODIA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267712"/>
            <a:ext cx="6492240" cy="1042415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500" b="1">
                <a:solidFill>
                  <a:srgbClr val="77DEFF"/>
                </a:solidFill>
                <a:latin typeface="Comic Sans MS"/>
              </a:rPr>
              <a:t>Distributed Digital Evidence
and Chain of Custody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9584"/>
            <a:ext cx="60350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0">
                <a:solidFill>
                  <a:srgbClr val="D3E5F4"/>
                </a:solidFill>
                <a:latin typeface="Comic Sans MS"/>
              </a:rPr>
              <a:t>A local forensic evidence network for integrity, redundancy, recovery, and accountability.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36592"/>
            <a:ext cx="3017520" cy="621792"/>
          </a:xfrm>
          <a:prstGeom prst="roundRect">
            <a:avLst>
              <a:gd name="adj" fmla="val 12000"/>
            </a:avLst>
          </a:prstGeom>
          <a:solidFill>
            <a:srgbClr val="153E65"/>
          </a:solidFill>
          <a:ln>
            <a:solidFill>
              <a:srgbClr val="57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4736592"/>
            <a:ext cx="2578608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920" b="1">
                <a:solidFill>
                  <a:srgbClr val="F8FCFF"/>
                </a:solidFill>
                <a:latin typeface="Comic Sans MS"/>
              </a:rPr>
              <a:t>PRESENTED BY  GROUP-I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907024"/>
            <a:ext cx="5943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200" b="1">
                <a:solidFill>
                  <a:srgbClr val="D3E5F4"/>
                </a:solidFill>
                <a:latin typeface="Comic Sans MS"/>
              </a:rPr>
              <a:t>Forensics theme  |  SHA-256  |  Quorum storage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38404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77DEFF"/>
                </a:solidFill>
                <a:latin typeface="Comic Sans MS"/>
              </a:rPr>
              <a:t>CUSTODIA  /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95527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700" b="1">
                <a:solidFill>
                  <a:srgbClr val="F8FCFF"/>
                </a:solidFill>
                <a:latin typeface="Comic Sans MS"/>
              </a:rPr>
              <a:t>Group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98448"/>
            <a:ext cx="98755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439" b="0">
                <a:solidFill>
                  <a:srgbClr val="D3E5F4"/>
                </a:solidFill>
                <a:latin typeface="Comic Sans MS"/>
              </a:rPr>
              <a:t>Six-member project team with individual names and identification codes.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755648"/>
            <a:ext cx="11009376" cy="0"/>
          </a:xfrm>
          <a:prstGeom prst="line">
            <a:avLst/>
          </a:prstGeom>
          <a:ln w="15240">
            <a:solidFill>
              <a:srgbClr val="4173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2084831"/>
            <a:ext cx="3035808" cy="1682496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313432"/>
            <a:ext cx="1024128" cy="10241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83664" y="2414015"/>
            <a:ext cx="1627632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normAutofit/>
          </a:bodyPr>
          <a:lstStyle/>
          <a:p>
            <a:pPr algn="l"/>
            <a:r>
              <a:rPr sz="1680" b="1">
                <a:solidFill>
                  <a:srgbClr val="77DEFF"/>
                </a:solidFill>
                <a:latin typeface="Comic Sans MS"/>
              </a:rPr>
              <a:t>REAL NAME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3664" y="2962656"/>
            <a:ext cx="1627632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normAutofit/>
          </a:bodyPr>
          <a:lstStyle/>
          <a:p>
            <a:pPr algn="l"/>
            <a:r>
              <a:rPr sz="1500" b="1">
                <a:solidFill>
                  <a:srgbClr val="74EBC6"/>
                </a:solidFill>
                <a:latin typeface="Comic Sans MS"/>
              </a:rPr>
              <a:t>ID: TNT-1963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51376" y="2084831"/>
            <a:ext cx="3035808" cy="1682496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2313432"/>
            <a:ext cx="1024128" cy="10241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76672" y="2414015"/>
            <a:ext cx="1627632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normAutofit/>
          </a:bodyPr>
          <a:lstStyle/>
          <a:p>
            <a:pPr algn="l"/>
            <a:r>
              <a:rPr sz="1680" b="1">
                <a:solidFill>
                  <a:srgbClr val="77DEFF"/>
                </a:solidFill>
                <a:latin typeface="Comic Sans MS"/>
              </a:rPr>
              <a:t>REAL NAME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6672" y="2962656"/>
            <a:ext cx="1627632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normAutofit/>
          </a:bodyPr>
          <a:lstStyle/>
          <a:p>
            <a:pPr algn="l"/>
            <a:r>
              <a:rPr sz="1500" b="1">
                <a:solidFill>
                  <a:srgbClr val="74EBC6"/>
                </a:solidFill>
                <a:latin typeface="Comic Sans MS"/>
              </a:rPr>
              <a:t>ID: TNT-1964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44383" y="2084831"/>
            <a:ext cx="3035808" cy="1682496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313432"/>
            <a:ext cx="1024128" cy="10241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69680" y="2414015"/>
            <a:ext cx="1627632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normAutofit/>
          </a:bodyPr>
          <a:lstStyle/>
          <a:p>
            <a:pPr algn="l"/>
            <a:r>
              <a:rPr sz="1680" b="1">
                <a:solidFill>
                  <a:srgbClr val="77DEFF"/>
                </a:solidFill>
                <a:latin typeface="Comic Sans MS"/>
              </a:rPr>
              <a:t>REAL NAME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962656"/>
            <a:ext cx="1627632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normAutofit/>
          </a:bodyPr>
          <a:lstStyle/>
          <a:p>
            <a:pPr algn="l"/>
            <a:r>
              <a:rPr sz="1500" b="1">
                <a:solidFill>
                  <a:srgbClr val="74EBC6"/>
                </a:solidFill>
                <a:latin typeface="Comic Sans MS"/>
              </a:rPr>
              <a:t>ID: TNT-1965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169663"/>
            <a:ext cx="3035808" cy="1682496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4398264"/>
            <a:ext cx="1024128" cy="10241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883664" y="4498848"/>
            <a:ext cx="1627632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normAutofit/>
          </a:bodyPr>
          <a:lstStyle/>
          <a:p>
            <a:pPr algn="l"/>
            <a:r>
              <a:rPr sz="1680" b="1">
                <a:solidFill>
                  <a:srgbClr val="77DEFF"/>
                </a:solidFill>
                <a:latin typeface="Comic Sans MS"/>
              </a:rPr>
              <a:t>REAL NAME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83664" y="5047488"/>
            <a:ext cx="1627632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normAutofit/>
          </a:bodyPr>
          <a:lstStyle/>
          <a:p>
            <a:pPr algn="l"/>
            <a:r>
              <a:rPr sz="1500" b="1">
                <a:solidFill>
                  <a:srgbClr val="74EBC6"/>
                </a:solidFill>
                <a:latin typeface="Comic Sans MS"/>
              </a:rPr>
              <a:t>ID: TNT-1966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51376" y="4169663"/>
            <a:ext cx="3035808" cy="1682496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392" y="4398264"/>
            <a:ext cx="1024128" cy="10241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76672" y="4498848"/>
            <a:ext cx="1627632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normAutofit/>
          </a:bodyPr>
          <a:lstStyle/>
          <a:p>
            <a:pPr algn="l"/>
            <a:r>
              <a:rPr sz="1680" b="1">
                <a:solidFill>
                  <a:srgbClr val="77DEFF"/>
                </a:solidFill>
                <a:latin typeface="Comic Sans MS"/>
              </a:rPr>
              <a:t>REAL NAME 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6672" y="5047488"/>
            <a:ext cx="1627632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normAutofit/>
          </a:bodyPr>
          <a:lstStyle/>
          <a:p>
            <a:pPr algn="l"/>
            <a:r>
              <a:rPr sz="1500" b="1">
                <a:solidFill>
                  <a:srgbClr val="74EBC6"/>
                </a:solidFill>
                <a:latin typeface="Comic Sans MS"/>
              </a:rPr>
              <a:t>ID: TNT-1967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44383" y="4169663"/>
            <a:ext cx="3035808" cy="1682496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0" y="4398264"/>
            <a:ext cx="1024128" cy="10241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869680" y="4498848"/>
            <a:ext cx="1627632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normAutofit/>
          </a:bodyPr>
          <a:lstStyle/>
          <a:p>
            <a:pPr algn="l"/>
            <a:r>
              <a:rPr sz="1680" b="1">
                <a:solidFill>
                  <a:srgbClr val="77DEFF"/>
                </a:solidFill>
                <a:latin typeface="Comic Sans MS"/>
              </a:rPr>
              <a:t>REAL NAME 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5047488"/>
            <a:ext cx="1627632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normAutofit/>
          </a:bodyPr>
          <a:lstStyle/>
          <a:p>
            <a:pPr algn="l"/>
            <a:r>
              <a:rPr sz="1500" b="1">
                <a:solidFill>
                  <a:srgbClr val="74EBC6"/>
                </a:solidFill>
                <a:latin typeface="Comic Sans MS"/>
              </a:rPr>
              <a:t>ID: TNT-1968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" y="6547104"/>
            <a:ext cx="68580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60" b="1">
                <a:solidFill>
                  <a:srgbClr val="D3E5F4"/>
                </a:solidFill>
                <a:latin typeface="Comic Sans MS"/>
              </a:rPr>
              <a:t>GROUP-I  |  CUSTODIA EVIDENCE NETWORK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82528" y="654710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960" b="1">
                <a:solidFill>
                  <a:srgbClr val="77DEFF"/>
                </a:solidFill>
                <a:latin typeface="Comic Sans M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38404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77DEFF"/>
                </a:solidFill>
                <a:latin typeface="Comic Sans MS"/>
              </a:rPr>
              <a:t>CUSTODIA  /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95527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700" b="1">
                <a:solidFill>
                  <a:srgbClr val="F8FCFF"/>
                </a:solidFill>
                <a:latin typeface="Comic Sans MS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98448"/>
            <a:ext cx="98755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439" b="0">
                <a:solidFill>
                  <a:srgbClr val="D3E5F4"/>
                </a:solidFill>
                <a:latin typeface="Comic Sans MS"/>
              </a:rPr>
              <a:t>A simple route from the problem to a working forensic evidence demonstration.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755648"/>
            <a:ext cx="11009376" cy="0"/>
          </a:xfrm>
          <a:prstGeom prst="line">
            <a:avLst/>
          </a:prstGeom>
          <a:ln w="15240">
            <a:solidFill>
              <a:srgbClr val="4173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49808" y="2148840"/>
            <a:ext cx="5669280" cy="3611880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468880"/>
            <a:ext cx="20116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74EBC6"/>
                </a:solidFill>
                <a:latin typeface="Comic Sans MS"/>
              </a:rPr>
              <a:t>TODAY'S ROUTE</a:t>
            </a:r>
          </a:p>
        </p:txBody>
      </p:sp>
      <p:sp>
        <p:nvSpPr>
          <p:cNvPr id="9" name="Oval 8"/>
          <p:cNvSpPr/>
          <p:nvPr/>
        </p:nvSpPr>
        <p:spPr>
          <a:xfrm>
            <a:off x="1024128" y="3017520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2889504"/>
            <a:ext cx="4663440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0">
                <a:solidFill>
                  <a:srgbClr val="F8FCFF"/>
                </a:solidFill>
                <a:latin typeface="Comic Sans MS"/>
              </a:rPr>
              <a:t>Project purpose and learning objectives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3465576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337560"/>
            <a:ext cx="4663440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0">
                <a:solidFill>
                  <a:srgbClr val="F8FCFF"/>
                </a:solidFill>
                <a:latin typeface="Comic Sans MS"/>
              </a:rPr>
              <a:t>Forensic evidence tools and system architecture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3913632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3785616"/>
            <a:ext cx="4663440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0">
                <a:solidFill>
                  <a:srgbClr val="F8FCFF"/>
                </a:solidFill>
                <a:latin typeface="Comic Sans MS"/>
              </a:rPr>
              <a:t>Upload, hash, replicate, verify, and repair</a:t>
            </a:r>
          </a:p>
        </p:txBody>
      </p:sp>
      <p:sp>
        <p:nvSpPr>
          <p:cNvPr id="15" name="Oval 14"/>
          <p:cNvSpPr/>
          <p:nvPr/>
        </p:nvSpPr>
        <p:spPr>
          <a:xfrm>
            <a:off x="1024128" y="4361688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4233672"/>
            <a:ext cx="4663440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0">
                <a:solidFill>
                  <a:srgbClr val="F8FCFF"/>
                </a:solidFill>
                <a:latin typeface="Comic Sans MS"/>
              </a:rPr>
              <a:t>Testing with fictional evidence files</a:t>
            </a:r>
          </a:p>
        </p:txBody>
      </p:sp>
      <p:sp>
        <p:nvSpPr>
          <p:cNvPr id="17" name="Oval 16"/>
          <p:cNvSpPr/>
          <p:nvPr/>
        </p:nvSpPr>
        <p:spPr>
          <a:xfrm>
            <a:off x="1024128" y="4809744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52728" y="4681728"/>
            <a:ext cx="4663440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0">
                <a:solidFill>
                  <a:srgbClr val="F8FCFF"/>
                </a:solidFill>
                <a:latin typeface="Comic Sans MS"/>
              </a:rPr>
              <a:t>Benefits, limitations, and future direction</a:t>
            </a:r>
          </a:p>
        </p:txBody>
      </p:sp>
      <p:sp>
        <p:nvSpPr>
          <p:cNvPr id="19" name="Oval 18"/>
          <p:cNvSpPr/>
          <p:nvPr/>
        </p:nvSpPr>
        <p:spPr>
          <a:xfrm>
            <a:off x="1024128" y="5257800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52728" y="5129784"/>
            <a:ext cx="4663440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0">
                <a:solidFill>
                  <a:srgbClr val="F8FCFF"/>
                </a:solidFill>
                <a:latin typeface="Comic Sans MS"/>
              </a:rPr>
              <a:t>Conclusion and questions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240280"/>
            <a:ext cx="4663440" cy="269748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812280" y="5102352"/>
            <a:ext cx="4663440" cy="566928"/>
          </a:xfrm>
          <a:prstGeom prst="roundRect">
            <a:avLst>
              <a:gd name="adj" fmla="val 12000"/>
            </a:avLst>
          </a:prstGeom>
          <a:solidFill>
            <a:srgbClr val="0B2440"/>
          </a:solidFill>
          <a:ln>
            <a:solidFill>
              <a:srgbClr val="509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22592" y="5102352"/>
            <a:ext cx="4242816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560" b="1">
                <a:solidFill>
                  <a:srgbClr val="F8FCFF"/>
                </a:solidFill>
                <a:latin typeface="Comic Sans MS"/>
              </a:rPr>
              <a:t>Understand the workflow, then run the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6547104"/>
            <a:ext cx="68580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60" b="1">
                <a:solidFill>
                  <a:srgbClr val="D3E5F4"/>
                </a:solidFill>
                <a:latin typeface="Comic Sans MS"/>
              </a:rPr>
              <a:t>GROUP-I  |  CUSTODIA EVIDENCE 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82528" y="654710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960" b="1">
                <a:solidFill>
                  <a:srgbClr val="77DEFF"/>
                </a:solidFill>
                <a:latin typeface="Comic Sans M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38404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77DEFF"/>
                </a:solidFill>
                <a:latin typeface="Comic Sans MS"/>
              </a:rPr>
              <a:t>CUSTODIA  /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95527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700" b="1">
                <a:solidFill>
                  <a:srgbClr val="F8FCFF"/>
                </a:solidFill>
                <a:latin typeface="Comic Sans MS"/>
              </a:rPr>
              <a:t>Project overview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98448"/>
            <a:ext cx="98755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439" b="0">
                <a:solidFill>
                  <a:srgbClr val="D3E5F4"/>
                </a:solidFill>
                <a:latin typeface="Comic Sans MS"/>
              </a:rPr>
              <a:t>Custodia is a learning prototype for protecting digital evidence from intake to report.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755648"/>
            <a:ext cx="11009376" cy="0"/>
          </a:xfrm>
          <a:prstGeom prst="line">
            <a:avLst/>
          </a:prstGeom>
          <a:ln w="15240">
            <a:solidFill>
              <a:srgbClr val="4173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49808" y="2331720"/>
            <a:ext cx="2057400" cy="2331720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" y="2578608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578608"/>
            <a:ext cx="475488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680" b="1">
                <a:solidFill>
                  <a:srgbClr val="091A30"/>
                </a:solidFill>
                <a:latin typeface="Comic Sans M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255264"/>
            <a:ext cx="15087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77DEFF"/>
                </a:solidFill>
                <a:latin typeface="Comic Sans MS"/>
              </a:rPr>
              <a:t>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639312"/>
            <a:ext cx="1664208" cy="6949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380" b="0">
                <a:solidFill>
                  <a:srgbClr val="F8FCFF"/>
                </a:solidFill>
                <a:latin typeface="Comic Sans MS"/>
              </a:rPr>
              <a:t>Register evidence with a case ID, description, and tags.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9312" y="2331720"/>
            <a:ext cx="2057400" cy="2331720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22191" y="2578608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74EBC6"/>
          </a:solidFill>
          <a:ln>
            <a:solidFill>
              <a:srgbClr val="74EB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1" y="2578608"/>
            <a:ext cx="475488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680" b="1">
                <a:solidFill>
                  <a:srgbClr val="091A30"/>
                </a:solidFill>
                <a:latin typeface="Comic Sans M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3255264"/>
            <a:ext cx="15087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74EBC6"/>
                </a:solidFill>
                <a:latin typeface="Comic Sans MS"/>
              </a:rPr>
              <a:t>PROTECT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2191" y="3639312"/>
            <a:ext cx="1664208" cy="6949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380" b="0">
                <a:solidFill>
                  <a:srgbClr val="F8FCFF"/>
                </a:solidFill>
                <a:latin typeface="Comic Sans MS"/>
              </a:rPr>
              <a:t>Hash the file and store redundant copies across nodes.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28816" y="2331720"/>
            <a:ext cx="2057400" cy="2331720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11696" y="2578608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F6B859"/>
          </a:solidFill>
          <a:ln>
            <a:solidFill>
              <a:srgbClr val="F6B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11696" y="2578608"/>
            <a:ext cx="475488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680" b="1">
                <a:solidFill>
                  <a:srgbClr val="091A30"/>
                </a:solidFill>
                <a:latin typeface="Comic Sans M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1696" y="3255264"/>
            <a:ext cx="15087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F6B859"/>
                </a:solidFill>
                <a:latin typeface="Comic Sans MS"/>
              </a:rPr>
              <a:t>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1696" y="3639312"/>
            <a:ext cx="1664208" cy="6949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380" b="0">
                <a:solidFill>
                  <a:srgbClr val="F8FCFF"/>
                </a:solidFill>
                <a:latin typeface="Comic Sans MS"/>
              </a:rPr>
              <a:t>Verify integrity and show who performed each action.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8320" y="2331720"/>
            <a:ext cx="2057400" cy="2331720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01200" y="2578608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F77E89"/>
          </a:solidFill>
          <a:ln>
            <a:solidFill>
              <a:srgbClr val="F7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2578608"/>
            <a:ext cx="475488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680" b="1">
                <a:solidFill>
                  <a:srgbClr val="091A30"/>
                </a:solidFill>
                <a:latin typeface="Comic Sans M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255264"/>
            <a:ext cx="15087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F77E89"/>
                </a:solidFill>
                <a:latin typeface="Comic Sans MS"/>
              </a:rPr>
              <a:t>RECOVER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639312"/>
            <a:ext cx="1664208" cy="6949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380" b="0">
                <a:solidFill>
                  <a:srgbClr val="F8FCFF"/>
                </a:solidFill>
                <a:latin typeface="Comic Sans MS"/>
              </a:rPr>
              <a:t>Detect corruption, repair replicas, and preserve history.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08760" y="5074920"/>
            <a:ext cx="9144000" cy="594360"/>
          </a:xfrm>
          <a:prstGeom prst="roundRect">
            <a:avLst>
              <a:gd name="adj" fmla="val 12000"/>
            </a:avLst>
          </a:prstGeom>
          <a:solidFill>
            <a:srgbClr val="0B2440"/>
          </a:solidFill>
          <a:ln>
            <a:solidFill>
              <a:srgbClr val="509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5074920"/>
            <a:ext cx="868680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680" b="1">
                <a:solidFill>
                  <a:srgbClr val="F8FCFF"/>
                </a:solidFill>
                <a:latin typeface="Comic Sans MS"/>
              </a:rPr>
              <a:t>Main lesson: evidence is not only a file—it is a file plus proof, redundancy, and history.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6547104"/>
            <a:ext cx="68580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60" b="1">
                <a:solidFill>
                  <a:srgbClr val="D3E5F4"/>
                </a:solidFill>
                <a:latin typeface="Comic Sans MS"/>
              </a:rPr>
              <a:t>GROUP-I  |  CUSTODIA EVIDENCE NETWORK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82528" y="654710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960" b="1">
                <a:solidFill>
                  <a:srgbClr val="77DEFF"/>
                </a:solidFill>
                <a:latin typeface="Comic Sans M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38404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77DEFF"/>
                </a:solidFill>
                <a:latin typeface="Comic Sans MS"/>
              </a:rPr>
              <a:t>CUSTODIA  /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95527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700" b="1">
                <a:solidFill>
                  <a:srgbClr val="F8FCFF"/>
                </a:solidFill>
                <a:latin typeface="Comic Sans MS"/>
              </a:rPr>
              <a:t>Why digital evidence needs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98448"/>
            <a:ext cx="98755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439" b="0">
                <a:solidFill>
                  <a:srgbClr val="D3E5F4"/>
                </a:solidFill>
                <a:latin typeface="Comic Sans MS"/>
              </a:rPr>
              <a:t>Evidence is valuable only when its origin, content, and history can be trusted.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755648"/>
            <a:ext cx="11009376" cy="0"/>
          </a:xfrm>
          <a:prstGeom prst="line">
            <a:avLst/>
          </a:prstGeom>
          <a:ln w="15240">
            <a:solidFill>
              <a:srgbClr val="4173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2148840"/>
            <a:ext cx="5166360" cy="3566160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468880"/>
            <a:ext cx="182880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F77E89"/>
                </a:solidFill>
                <a:latin typeface="Comic Sans MS"/>
              </a:rPr>
              <a:t>THE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429768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200" b="1">
                <a:solidFill>
                  <a:srgbClr val="F8FCFF"/>
                </a:solidFill>
                <a:latin typeface="Comic Sans MS"/>
              </a:rPr>
              <a:t>A single file copy is not enough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3557016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3429000"/>
            <a:ext cx="4069080" cy="5394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0">
                <a:solidFill>
                  <a:srgbClr val="D3E5F4"/>
                </a:solidFill>
                <a:latin typeface="Comic Sans MS"/>
              </a:rPr>
              <a:t>Files can be changed without obvious signs.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096511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3968496"/>
            <a:ext cx="4069080" cy="5394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0">
                <a:solidFill>
                  <a:srgbClr val="D3E5F4"/>
                </a:solidFill>
                <a:latin typeface="Comic Sans MS"/>
              </a:rPr>
              <a:t>A failed drive can make evidence unavailable.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636007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4507992"/>
            <a:ext cx="4069080" cy="5394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0">
                <a:solidFill>
                  <a:srgbClr val="D3E5F4"/>
                </a:solidFill>
                <a:latin typeface="Comic Sans MS"/>
              </a:rPr>
              <a:t>Manual history is easy to miss or dispute.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5175503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" y="5047488"/>
            <a:ext cx="4069080" cy="5394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0">
                <a:solidFill>
                  <a:srgbClr val="D3E5F4"/>
                </a:solidFill>
                <a:latin typeface="Comic Sans MS"/>
              </a:rPr>
              <a:t>Different versions can be confused.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2148840"/>
            <a:ext cx="5349240" cy="3566160"/>
          </a:xfrm>
          <a:prstGeom prst="roundRect">
            <a:avLst>
              <a:gd name="adj" fmla="val 12000"/>
            </a:avLst>
          </a:prstGeom>
          <a:solidFill>
            <a:srgbClr val="153E65"/>
          </a:solidFill>
          <a:ln>
            <a:solidFill>
              <a:srgbClr val="509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468880"/>
            <a:ext cx="21945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74EBC6"/>
                </a:solidFill>
                <a:latin typeface="Comic Sans MS"/>
              </a:rPr>
              <a:t>THE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761488"/>
            <a:ext cx="448056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200" b="1">
                <a:solidFill>
                  <a:srgbClr val="F8FCFF"/>
                </a:solidFill>
                <a:latin typeface="Comic Sans MS"/>
              </a:rPr>
              <a:t>Make every byte accountable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3557016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3429000"/>
            <a:ext cx="4297680" cy="5394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0">
                <a:solidFill>
                  <a:srgbClr val="F8FCFF"/>
                </a:solidFill>
                <a:latin typeface="Comic Sans MS"/>
              </a:rPr>
              <a:t>Create a cryptographic fingerprint.</a:t>
            </a:r>
          </a:p>
        </p:txBody>
      </p:sp>
      <p:sp>
        <p:nvSpPr>
          <p:cNvPr id="23" name="Oval 22"/>
          <p:cNvSpPr/>
          <p:nvPr/>
        </p:nvSpPr>
        <p:spPr>
          <a:xfrm>
            <a:off x="6419088" y="4096511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7688" y="3968496"/>
            <a:ext cx="4297680" cy="5394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0">
                <a:solidFill>
                  <a:srgbClr val="F8FCFF"/>
                </a:solidFill>
                <a:latin typeface="Comic Sans MS"/>
              </a:rPr>
              <a:t>Keep three replicas across four nodes.</a:t>
            </a:r>
          </a:p>
        </p:txBody>
      </p:sp>
      <p:sp>
        <p:nvSpPr>
          <p:cNvPr id="25" name="Oval 24"/>
          <p:cNvSpPr/>
          <p:nvPr/>
        </p:nvSpPr>
        <p:spPr>
          <a:xfrm>
            <a:off x="6419088" y="4636007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4507992"/>
            <a:ext cx="4297680" cy="5394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0">
                <a:solidFill>
                  <a:srgbClr val="F8FCFF"/>
                </a:solidFill>
                <a:latin typeface="Comic Sans MS"/>
              </a:rPr>
              <a:t>Verify reads with a majority quorum.</a:t>
            </a:r>
          </a:p>
        </p:txBody>
      </p:sp>
      <p:sp>
        <p:nvSpPr>
          <p:cNvPr id="27" name="Oval 26"/>
          <p:cNvSpPr/>
          <p:nvPr/>
        </p:nvSpPr>
        <p:spPr>
          <a:xfrm>
            <a:off x="6419088" y="5175503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5047488"/>
            <a:ext cx="4297680" cy="5394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0">
                <a:solidFill>
                  <a:srgbClr val="F8FCFF"/>
                </a:solidFill>
                <a:latin typeface="Comic Sans MS"/>
              </a:rPr>
              <a:t>Record every action in a linked ledger.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6547104"/>
            <a:ext cx="68580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60" b="1">
                <a:solidFill>
                  <a:srgbClr val="D3E5F4"/>
                </a:solidFill>
                <a:latin typeface="Comic Sans MS"/>
              </a:rPr>
              <a:t>GROUP-I  |  CUSTODIA EVIDENCE NETWORK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82528" y="654710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960" b="1">
                <a:solidFill>
                  <a:srgbClr val="77DEFF"/>
                </a:solidFill>
                <a:latin typeface="Comic Sans M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38404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77DEFF"/>
                </a:solidFill>
                <a:latin typeface="Comic Sans MS"/>
              </a:rPr>
              <a:t>CUSTODIA  /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95527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700" b="1">
                <a:solidFill>
                  <a:srgbClr val="F8FCFF"/>
                </a:solidFill>
                <a:latin typeface="Comic Sans MS"/>
              </a:rPr>
              <a:t>Forensic tools inside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98448"/>
            <a:ext cx="98755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439" b="0">
                <a:solidFill>
                  <a:srgbClr val="D3E5F4"/>
                </a:solidFill>
                <a:latin typeface="Comic Sans MS"/>
              </a:rPr>
              <a:t>Each tool answers a different trust question during evidence handling.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755648"/>
            <a:ext cx="11009376" cy="0"/>
          </a:xfrm>
          <a:prstGeom prst="line">
            <a:avLst/>
          </a:prstGeom>
          <a:ln w="15240">
            <a:solidFill>
              <a:srgbClr val="4173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148840"/>
            <a:ext cx="5760720" cy="3337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12280" y="2148840"/>
            <a:ext cx="4663440" cy="3337560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2487168"/>
            <a:ext cx="29260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74EBC6"/>
                </a:solidFill>
                <a:latin typeface="Comic Sans MS"/>
              </a:rPr>
              <a:t>WHAT EACH TOOL PROVES</a:t>
            </a:r>
          </a:p>
        </p:txBody>
      </p:sp>
      <p:sp>
        <p:nvSpPr>
          <p:cNvPr id="10" name="Oval 9"/>
          <p:cNvSpPr/>
          <p:nvPr/>
        </p:nvSpPr>
        <p:spPr>
          <a:xfrm>
            <a:off x="7086600" y="3035808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2907792"/>
            <a:ext cx="3749039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560" b="0">
                <a:solidFill>
                  <a:srgbClr val="F8FCFF"/>
                </a:solidFill>
                <a:latin typeface="Comic Sans MS"/>
              </a:rPr>
              <a:t>File intake: what was submitted?</a:t>
            </a:r>
          </a:p>
        </p:txBody>
      </p:sp>
      <p:sp>
        <p:nvSpPr>
          <p:cNvPr id="12" name="Oval 11"/>
          <p:cNvSpPr/>
          <p:nvPr/>
        </p:nvSpPr>
        <p:spPr>
          <a:xfrm>
            <a:off x="7086600" y="3511296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3383280"/>
            <a:ext cx="3749039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560" b="0">
                <a:solidFill>
                  <a:srgbClr val="F8FCFF"/>
                </a:solidFill>
                <a:latin typeface="Comic Sans MS"/>
              </a:rPr>
              <a:t>SHA-256: did the bytes change?</a:t>
            </a:r>
          </a:p>
        </p:txBody>
      </p:sp>
      <p:sp>
        <p:nvSpPr>
          <p:cNvPr id="14" name="Oval 13"/>
          <p:cNvSpPr/>
          <p:nvPr/>
        </p:nvSpPr>
        <p:spPr>
          <a:xfrm>
            <a:off x="7086600" y="3986784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3858768"/>
            <a:ext cx="3749039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560" b="0">
                <a:solidFill>
                  <a:srgbClr val="F8FCFF"/>
                </a:solidFill>
                <a:latin typeface="Comic Sans MS"/>
              </a:rPr>
              <a:t>Node replicas: is the file still available?</a:t>
            </a:r>
          </a:p>
        </p:txBody>
      </p:sp>
      <p:sp>
        <p:nvSpPr>
          <p:cNvPr id="16" name="Oval 15"/>
          <p:cNvSpPr/>
          <p:nvPr/>
        </p:nvSpPr>
        <p:spPr>
          <a:xfrm>
            <a:off x="7086600" y="4462272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4334256"/>
            <a:ext cx="3749039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560" b="0">
                <a:solidFill>
                  <a:srgbClr val="F8FCFF"/>
                </a:solidFill>
                <a:latin typeface="Comic Sans MS"/>
              </a:rPr>
              <a:t>Quorum read: do copies agree?</a:t>
            </a:r>
          </a:p>
        </p:txBody>
      </p:sp>
      <p:sp>
        <p:nvSpPr>
          <p:cNvPr id="18" name="Oval 17"/>
          <p:cNvSpPr/>
          <p:nvPr/>
        </p:nvSpPr>
        <p:spPr>
          <a:xfrm>
            <a:off x="7086600" y="4937759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4809744"/>
            <a:ext cx="3749039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560" b="0">
                <a:solidFill>
                  <a:srgbClr val="F8FCFF"/>
                </a:solidFill>
                <a:latin typeface="Comic Sans MS"/>
              </a:rPr>
              <a:t>Audit ledger: who did what and when?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47104"/>
            <a:ext cx="68580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60" b="1">
                <a:solidFill>
                  <a:srgbClr val="D3E5F4"/>
                </a:solidFill>
                <a:latin typeface="Comic Sans MS"/>
              </a:rPr>
              <a:t>GROUP-I  |  CUSTODIA EVIDENCE NETWORK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654710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960" b="1">
                <a:solidFill>
                  <a:srgbClr val="77DEFF"/>
                </a:solidFill>
                <a:latin typeface="Comic Sans M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38404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77DEFF"/>
                </a:solidFill>
                <a:latin typeface="Comic Sans MS"/>
              </a:rPr>
              <a:t>CUSTODIA  / 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95527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700" b="1">
                <a:solidFill>
                  <a:srgbClr val="F8FCFF"/>
                </a:solidFill>
                <a:latin typeface="Comic Sans MS"/>
              </a:rPr>
              <a:t>Project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98448"/>
            <a:ext cx="98755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439" b="0">
                <a:solidFill>
                  <a:srgbClr val="D3E5F4"/>
                </a:solidFill>
                <a:latin typeface="Comic Sans MS"/>
              </a:rPr>
              <a:t>The browser dashboard calls FastAPI, which manages metadata, hashes, replicas, and audit history.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755648"/>
            <a:ext cx="11009376" cy="0"/>
          </a:xfrm>
          <a:prstGeom prst="line">
            <a:avLst/>
          </a:prstGeom>
          <a:ln w="15240">
            <a:solidFill>
              <a:srgbClr val="4173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49808" y="2176272"/>
            <a:ext cx="2240280" cy="2057400"/>
          </a:xfrm>
          <a:prstGeom prst="roundRect">
            <a:avLst>
              <a:gd name="adj" fmla="val 12000"/>
            </a:avLst>
          </a:prstGeom>
          <a:solidFill>
            <a:srgbClr val="153E65"/>
          </a:solidFill>
          <a:ln>
            <a:solidFill>
              <a:srgbClr val="509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468880"/>
            <a:ext cx="12801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77DEFF"/>
                </a:solidFill>
                <a:latin typeface="Comic Sans M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52928"/>
            <a:ext cx="178308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160" b="1">
                <a:solidFill>
                  <a:srgbClr val="F8FCFF"/>
                </a:solidFill>
                <a:latin typeface="Comic Sans MS"/>
              </a:rPr>
              <a:t>React + 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456432"/>
            <a:ext cx="16916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320" b="0">
                <a:solidFill>
                  <a:srgbClr val="D3E5F4"/>
                </a:solidFill>
                <a:latin typeface="Comic Sans MS"/>
              </a:rPr>
              <a:t>Dashboard
Upload, verify, repair,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176272"/>
            <a:ext cx="2743200" cy="2057400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468880"/>
            <a:ext cx="12801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74EBC6"/>
                </a:solidFill>
                <a:latin typeface="Comic Sans MS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2852928"/>
            <a:ext cx="214884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160" b="1">
                <a:solidFill>
                  <a:srgbClr val="F8FCFF"/>
                </a:solidFill>
                <a:latin typeface="Comic Sans MS"/>
              </a:rPr>
              <a:t>Python + 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410712"/>
            <a:ext cx="21031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320" b="0">
                <a:solidFill>
                  <a:srgbClr val="D3E5F4"/>
                </a:solidFill>
                <a:latin typeface="Comic Sans MS"/>
              </a:rPr>
              <a:t>Hashing
Quorum reads
Versioning + permissions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2176272"/>
            <a:ext cx="2514600" cy="2057400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2468880"/>
            <a:ext cx="164592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F6B859"/>
                </a:solidFill>
                <a:latin typeface="Comic Sans MS"/>
              </a:rPr>
              <a:t>LOCAL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288" y="2852928"/>
            <a:ext cx="20116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920" b="1">
                <a:solidFill>
                  <a:srgbClr val="F8FCFF"/>
                </a:solidFill>
                <a:latin typeface="Comic Sans MS"/>
              </a:rPr>
              <a:t>metadata.json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3410712"/>
            <a:ext cx="192024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320" b="0">
                <a:solidFill>
                  <a:srgbClr val="D3E5F4"/>
                </a:solidFill>
                <a:latin typeface="Comic Sans MS"/>
              </a:rPr>
              <a:t>Four node folders
Object chunks
Quarantine copies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063240" y="3200400"/>
            <a:ext cx="1417320" cy="0"/>
          </a:xfrm>
          <a:prstGeom prst="line">
            <a:avLst/>
          </a:prstGeom>
          <a:ln w="27940">
            <a:solidFill>
              <a:srgbClr val="77D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360920" y="3200400"/>
            <a:ext cx="1463040" cy="0"/>
          </a:xfrm>
          <a:prstGeom prst="line">
            <a:avLst/>
          </a:prstGeom>
          <a:ln w="27940">
            <a:solidFill>
              <a:srgbClr val="77D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121408" y="4800600"/>
            <a:ext cx="7955279" cy="640080"/>
          </a:xfrm>
          <a:prstGeom prst="roundRect">
            <a:avLst>
              <a:gd name="adj" fmla="val 12000"/>
            </a:avLst>
          </a:prstGeom>
          <a:solidFill>
            <a:srgbClr val="0B2440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31720" y="4800600"/>
            <a:ext cx="7516368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800" b="1">
                <a:solidFill>
                  <a:srgbClr val="F8FCFF"/>
                </a:solidFill>
                <a:latin typeface="Comic Sans MS"/>
              </a:rPr>
              <a:t>User action  →  API route  →  evidence service  →  verified result + audit event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6547104"/>
            <a:ext cx="68580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60" b="1">
                <a:solidFill>
                  <a:srgbClr val="D3E5F4"/>
                </a:solidFill>
                <a:latin typeface="Comic Sans MS"/>
              </a:rPr>
              <a:t>GROUP-I  |  CUSTODIA EVIDENCE 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54710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960" b="1">
                <a:solidFill>
                  <a:srgbClr val="77DEFF"/>
                </a:solidFill>
                <a:latin typeface="Comic Sans M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38404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77DEFF"/>
                </a:solidFill>
                <a:latin typeface="Comic Sans MS"/>
              </a:rPr>
              <a:t>CUSTODIA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95527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700" b="1">
                <a:solidFill>
                  <a:srgbClr val="F8FCFF"/>
                </a:solidFill>
                <a:latin typeface="Comic Sans MS"/>
              </a:rPr>
              <a:t>End-to-end evidence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98448"/>
            <a:ext cx="98755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439" b="0">
                <a:solidFill>
                  <a:srgbClr val="D3E5F4"/>
                </a:solidFill>
                <a:latin typeface="Comic Sans MS"/>
              </a:rPr>
              <a:t>One upload moves through intake, distribution, verification, recovery, and reporting.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755648"/>
            <a:ext cx="11009376" cy="0"/>
          </a:xfrm>
          <a:prstGeom prst="line">
            <a:avLst/>
          </a:prstGeom>
          <a:ln w="15240">
            <a:solidFill>
              <a:srgbClr val="4173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49808" y="2194560"/>
            <a:ext cx="3310128" cy="1298448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395728"/>
            <a:ext cx="438912" cy="438912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439" b="1">
                <a:solidFill>
                  <a:srgbClr val="091A30"/>
                </a:solidFill>
                <a:latin typeface="Comic Sans M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368296"/>
            <a:ext cx="23774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1">
                <a:solidFill>
                  <a:srgbClr val="F8FCFF"/>
                </a:solidFill>
                <a:latin typeface="Comic Sans MS"/>
              </a:rPr>
              <a:t>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724912"/>
            <a:ext cx="23774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260" b="0">
                <a:solidFill>
                  <a:srgbClr val="D3E5F4"/>
                </a:solidFill>
                <a:latin typeface="Comic Sans MS"/>
              </a:rPr>
              <a:t>Choose a file, case ID, description, and tags.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44568" y="2194560"/>
            <a:ext cx="3310128" cy="1298448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09160" y="2395728"/>
            <a:ext cx="438912" cy="438912"/>
          </a:xfrm>
          <a:prstGeom prst="ellipse">
            <a:avLst/>
          </a:prstGeom>
          <a:solidFill>
            <a:srgbClr val="74EBC6"/>
          </a:solidFill>
          <a:ln>
            <a:solidFill>
              <a:srgbClr val="74EB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395728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439" b="1">
                <a:solidFill>
                  <a:srgbClr val="091A30"/>
                </a:solidFill>
                <a:latin typeface="Comic Sans M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4376" y="2368296"/>
            <a:ext cx="23774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1">
                <a:solidFill>
                  <a:srgbClr val="F8FCFF"/>
                </a:solidFill>
                <a:latin typeface="Comic Sans MS"/>
              </a:rPr>
              <a:t>Fingerprint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4376" y="2724912"/>
            <a:ext cx="23774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260" b="0">
                <a:solidFill>
                  <a:srgbClr val="D3E5F4"/>
                </a:solidFill>
                <a:latin typeface="Comic Sans MS"/>
              </a:rPr>
              <a:t>SHA-256 hashes the file and every chunk.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9328" y="2194560"/>
            <a:ext cx="3310128" cy="1298448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03920" y="2395728"/>
            <a:ext cx="438912" cy="438912"/>
          </a:xfrm>
          <a:prstGeom prst="ellipse">
            <a:avLst/>
          </a:prstGeom>
          <a:solidFill>
            <a:srgbClr val="F6B859"/>
          </a:solidFill>
          <a:ln>
            <a:solidFill>
              <a:srgbClr val="F6B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395728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439" b="1">
                <a:solidFill>
                  <a:srgbClr val="091A30"/>
                </a:solidFill>
                <a:latin typeface="Comic Sans M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9136" y="2368296"/>
            <a:ext cx="23774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1">
                <a:solidFill>
                  <a:srgbClr val="F8FCFF"/>
                </a:solidFill>
                <a:latin typeface="Comic Sans MS"/>
              </a:rPr>
              <a:t>Distribute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2724912"/>
            <a:ext cx="23774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260" b="0">
                <a:solidFill>
                  <a:srgbClr val="D3E5F4"/>
                </a:solidFill>
                <a:latin typeface="Comic Sans MS"/>
              </a:rPr>
              <a:t>Three replicas are written to the node 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3977639"/>
            <a:ext cx="3310128" cy="1298448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178807"/>
            <a:ext cx="438912" cy="438912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178807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439" b="1">
                <a:solidFill>
                  <a:srgbClr val="091A30"/>
                </a:solidFill>
                <a:latin typeface="Comic Sans M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9616" y="4151376"/>
            <a:ext cx="23774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1">
                <a:solidFill>
                  <a:srgbClr val="F8FCFF"/>
                </a:solidFill>
                <a:latin typeface="Comic Sans MS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9616" y="4507992"/>
            <a:ext cx="23774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260" b="0">
                <a:solidFill>
                  <a:srgbClr val="D3E5F4"/>
                </a:solidFill>
                <a:latin typeface="Comic Sans MS"/>
              </a:rPr>
              <a:t>Two matching replicas are required for a read.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44568" y="3977639"/>
            <a:ext cx="3310128" cy="1298448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09160" y="4178807"/>
            <a:ext cx="438912" cy="438912"/>
          </a:xfrm>
          <a:prstGeom prst="ellipse">
            <a:avLst/>
          </a:prstGeom>
          <a:solidFill>
            <a:srgbClr val="F77E89"/>
          </a:solidFill>
          <a:ln>
            <a:solidFill>
              <a:srgbClr val="F7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60" y="4178807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439" b="1">
                <a:solidFill>
                  <a:srgbClr val="091A30"/>
                </a:solidFill>
                <a:latin typeface="Comic Sans M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94376" y="4151376"/>
            <a:ext cx="23774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1">
                <a:solidFill>
                  <a:srgbClr val="F8FCFF"/>
                </a:solidFill>
                <a:latin typeface="Comic Sans MS"/>
              </a:rPr>
              <a:t>Recover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94376" y="4507992"/>
            <a:ext cx="23774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260" b="0">
                <a:solidFill>
                  <a:srgbClr val="D3E5F4"/>
                </a:solidFill>
                <a:latin typeface="Comic Sans MS"/>
              </a:rPr>
              <a:t>Bad copies are quarantined and rebuilt.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39328" y="3977639"/>
            <a:ext cx="3310128" cy="1298448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03920" y="4178807"/>
            <a:ext cx="438912" cy="438912"/>
          </a:xfrm>
          <a:prstGeom prst="ellipse">
            <a:avLst/>
          </a:prstGeom>
          <a:solidFill>
            <a:srgbClr val="74EBC6"/>
          </a:solidFill>
          <a:ln>
            <a:solidFill>
              <a:srgbClr val="74EB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4178807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439" b="1">
                <a:solidFill>
                  <a:srgbClr val="091A30"/>
                </a:solidFill>
                <a:latin typeface="Comic Sans M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89136" y="4151376"/>
            <a:ext cx="23774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1">
                <a:solidFill>
                  <a:srgbClr val="F8FCFF"/>
                </a:solidFill>
                <a:latin typeface="Comic Sans MS"/>
              </a:rPr>
              <a:t>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89136" y="4507992"/>
            <a:ext cx="23774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260" b="0">
                <a:solidFill>
                  <a:srgbClr val="D3E5F4"/>
                </a:solidFill>
                <a:latin typeface="Comic Sans MS"/>
              </a:rPr>
              <a:t>Versions, hashes, events, and certification export.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" y="6547104"/>
            <a:ext cx="68580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60" b="1">
                <a:solidFill>
                  <a:srgbClr val="D3E5F4"/>
                </a:solidFill>
                <a:latin typeface="Comic Sans MS"/>
              </a:rPr>
              <a:t>GROUP-I  |  CUSTODIA EVIDENCE NETWORK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82528" y="654710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960" b="1">
                <a:solidFill>
                  <a:srgbClr val="77DEFF"/>
                </a:solidFill>
                <a:latin typeface="Comic Sans M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38404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77DEFF"/>
                </a:solidFill>
                <a:latin typeface="Comic Sans MS"/>
              </a:rPr>
              <a:t>CUSTODIA  /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95527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700" b="1">
                <a:solidFill>
                  <a:srgbClr val="F8FCFF"/>
                </a:solidFill>
                <a:latin typeface="Comic Sans MS"/>
              </a:rPr>
              <a:t>Integrity, replication, and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98448"/>
            <a:ext cx="98755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439" b="0">
                <a:solidFill>
                  <a:srgbClr val="D3E5F4"/>
                </a:solidFill>
                <a:latin typeface="Comic Sans MS"/>
              </a:rPr>
              <a:t>Custodia validates both the individual chunks and the reconstructed whole file.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755648"/>
            <a:ext cx="11009376" cy="0"/>
          </a:xfrm>
          <a:prstGeom prst="line">
            <a:avLst/>
          </a:prstGeom>
          <a:ln w="15240">
            <a:solidFill>
              <a:srgbClr val="4173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2148840"/>
            <a:ext cx="6446520" cy="3611880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468880"/>
            <a:ext cx="20116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77DEFF"/>
                </a:solidFill>
                <a:latin typeface="Comic Sans MS"/>
              </a:rPr>
              <a:t>STORAGE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798064"/>
            <a:ext cx="52120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000" b="1">
                <a:solidFill>
                  <a:srgbClr val="F8FCFF"/>
                </a:solidFill>
                <a:latin typeface="Comic Sans MS"/>
              </a:rPr>
              <a:t>One file becomes trusted building blocks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3840480"/>
            <a:ext cx="1051560" cy="1051560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515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00" b="1">
                <a:solidFill>
                  <a:srgbClr val="091A30"/>
                </a:solidFill>
                <a:latin typeface="Comic Sans MS"/>
              </a:rPr>
              <a:t>FILE</a:t>
            </a:r>
          </a:p>
        </p:txBody>
      </p:sp>
      <p:sp>
        <p:nvSpPr>
          <p:cNvPr id="12" name="Oval 11"/>
          <p:cNvSpPr/>
          <p:nvPr/>
        </p:nvSpPr>
        <p:spPr>
          <a:xfrm>
            <a:off x="2788920" y="3840480"/>
            <a:ext cx="1051560" cy="1051560"/>
          </a:xfrm>
          <a:prstGeom prst="ellipse">
            <a:avLst/>
          </a:prstGeom>
          <a:solidFill>
            <a:srgbClr val="74EBC6"/>
          </a:solidFill>
          <a:ln>
            <a:solidFill>
              <a:srgbClr val="74EB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4160520"/>
            <a:ext cx="10515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00" b="1">
                <a:solidFill>
                  <a:srgbClr val="091A30"/>
                </a:solidFill>
                <a:latin typeface="Comic Sans MS"/>
              </a:rPr>
              <a:t>CHUNKS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0" y="3840480"/>
            <a:ext cx="1051560" cy="1051560"/>
          </a:xfrm>
          <a:prstGeom prst="ellipse">
            <a:avLst/>
          </a:prstGeom>
          <a:solidFill>
            <a:srgbClr val="F6B859"/>
          </a:solidFill>
          <a:ln>
            <a:solidFill>
              <a:srgbClr val="F6B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160520"/>
            <a:ext cx="10515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00" b="1">
                <a:solidFill>
                  <a:srgbClr val="091A30"/>
                </a:solidFill>
                <a:latin typeface="Comic Sans MS"/>
              </a:rPr>
              <a:t>3 REPLICAS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57400" y="4370832"/>
            <a:ext cx="640080" cy="0"/>
          </a:xfrm>
          <a:prstGeom prst="line">
            <a:avLst/>
          </a:prstGeom>
          <a:ln w="25400">
            <a:solidFill>
              <a:srgbClr val="D3E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40480" y="4370832"/>
            <a:ext cx="640080" cy="0"/>
          </a:xfrm>
          <a:prstGeom prst="line">
            <a:avLst/>
          </a:prstGeom>
          <a:ln w="25400">
            <a:solidFill>
              <a:srgbClr val="D3E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60704" y="5074920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00" b="1">
                <a:solidFill>
                  <a:srgbClr val="D3E5F4"/>
                </a:solidFill>
                <a:latin typeface="Comic Sans MS"/>
              </a:rPr>
              <a:t>File hash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98064" y="5074920"/>
            <a:ext cx="10515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00" b="1">
                <a:solidFill>
                  <a:srgbClr val="D3E5F4"/>
                </a:solidFill>
                <a:latin typeface="Comic Sans MS"/>
              </a:rPr>
              <a:t>Merkle root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074920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00" b="1">
                <a:solidFill>
                  <a:srgbClr val="D3E5F4"/>
                </a:solidFill>
                <a:latin typeface="Comic Sans MS"/>
              </a:rPr>
              <a:t>2 of 3 quorum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2148840"/>
            <a:ext cx="3977639" cy="3840480"/>
          </a:xfrm>
          <a:prstGeom prst="roundRect">
            <a:avLst>
              <a:gd name="adj" fmla="val 12000"/>
            </a:avLst>
          </a:prstGeom>
          <a:solidFill>
            <a:srgbClr val="153E65"/>
          </a:solidFill>
          <a:ln>
            <a:solidFill>
              <a:srgbClr val="509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2468880"/>
            <a:ext cx="283464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F77E89"/>
                </a:solidFill>
                <a:latin typeface="Comic Sans MS"/>
              </a:rPr>
              <a:t>WHEN A COPY CHANGES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2" y="2798064"/>
            <a:ext cx="32918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000" b="1">
                <a:solidFill>
                  <a:srgbClr val="F8FCFF"/>
                </a:solidFill>
                <a:latin typeface="Comic Sans MS"/>
              </a:rPr>
              <a:t>Detect → quarantine → repair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0" y="3584448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3456432"/>
            <a:ext cx="29718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260" b="0">
                <a:solidFill>
                  <a:srgbClr val="F8FCFF"/>
                </a:solidFill>
                <a:latin typeface="Comic Sans MS"/>
              </a:rPr>
              <a:t>Compare bytes with the expected hash.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0" y="4041647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3913631"/>
            <a:ext cx="29718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260" b="0">
                <a:solidFill>
                  <a:srgbClr val="F8FCFF"/>
                </a:solidFill>
                <a:latin typeface="Comic Sans MS"/>
              </a:rPr>
              <a:t>Use a healthy peer for repair.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0" y="4498847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4370831"/>
            <a:ext cx="29718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260" b="0">
                <a:solidFill>
                  <a:srgbClr val="F8FCFF"/>
                </a:solidFill>
                <a:latin typeface="Comic Sans MS"/>
              </a:rPr>
              <a:t>Quarantine the bad copy.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0" y="4956047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1000" y="4828031"/>
            <a:ext cx="29718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260" b="0">
                <a:solidFill>
                  <a:srgbClr val="F8FCFF"/>
                </a:solidFill>
                <a:latin typeface="Comic Sans MS"/>
              </a:rPr>
              <a:t>Write correct bytes atomically.</a:t>
            </a:r>
          </a:p>
        </p:txBody>
      </p:sp>
      <p:sp>
        <p:nvSpPr>
          <p:cNvPr id="32" name="Oval 31"/>
          <p:cNvSpPr/>
          <p:nvPr/>
        </p:nvSpPr>
        <p:spPr>
          <a:xfrm>
            <a:off x="7772400" y="5413247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1000" y="5285231"/>
            <a:ext cx="29718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260" b="0">
                <a:solidFill>
                  <a:srgbClr val="F8FCFF"/>
                </a:solidFill>
                <a:latin typeface="Comic Sans MS"/>
              </a:rPr>
              <a:t>Record repair in the ledger.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" y="6547104"/>
            <a:ext cx="68580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60" b="1">
                <a:solidFill>
                  <a:srgbClr val="D3E5F4"/>
                </a:solidFill>
                <a:latin typeface="Comic Sans MS"/>
              </a:rPr>
              <a:t>GROUP-I  |  CUSTODIA EVIDENCE NETWORK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82528" y="654710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960" b="1">
                <a:solidFill>
                  <a:srgbClr val="77DEFF"/>
                </a:solidFill>
                <a:latin typeface="Comic Sans M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38404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77DEFF"/>
                </a:solidFill>
                <a:latin typeface="Comic Sans MS"/>
              </a:rPr>
              <a:t>CUSTODIA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95527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700" b="1">
                <a:solidFill>
                  <a:srgbClr val="F8FCFF"/>
                </a:solidFill>
                <a:latin typeface="Comic Sans MS"/>
              </a:rPr>
              <a:t>Evidence files and case 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98448"/>
            <a:ext cx="98755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439" b="0">
                <a:solidFill>
                  <a:srgbClr val="D3E5F4"/>
                </a:solidFill>
                <a:latin typeface="Comic Sans MS"/>
              </a:rPr>
              <a:t>Different file types can belong to the same case without becoming the same evidence item.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755648"/>
            <a:ext cx="11009376" cy="0"/>
          </a:xfrm>
          <a:prstGeom prst="line">
            <a:avLst/>
          </a:prstGeom>
          <a:ln w="15240">
            <a:solidFill>
              <a:srgbClr val="4173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5413248" cy="33558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27648" y="2148840"/>
            <a:ext cx="5148072" cy="3840480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2487168"/>
            <a:ext cx="21945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F6B859"/>
                </a:solidFill>
                <a:latin typeface="Comic Sans MS"/>
              </a:rPr>
              <a:t>BEGINNER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852928"/>
            <a:ext cx="452628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160" b="1">
                <a:solidFill>
                  <a:srgbClr val="F8FCFF"/>
                </a:solidFill>
                <a:latin typeface="Comic Sans MS"/>
              </a:rPr>
              <a:t>One case can contain many files</a:t>
            </a:r>
          </a:p>
        </p:txBody>
      </p:sp>
      <p:sp>
        <p:nvSpPr>
          <p:cNvPr id="11" name="Oval 10"/>
          <p:cNvSpPr/>
          <p:nvPr/>
        </p:nvSpPr>
        <p:spPr>
          <a:xfrm>
            <a:off x="6601968" y="3584448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0568" y="3456432"/>
            <a:ext cx="42976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380" b="0">
                <a:solidFill>
                  <a:srgbClr val="F8FCFF"/>
                </a:solidFill>
                <a:latin typeface="Comic Sans MS"/>
              </a:rPr>
              <a:t>Case ID: CASE-TEST-001</a:t>
            </a:r>
          </a:p>
        </p:txBody>
      </p:sp>
      <p:sp>
        <p:nvSpPr>
          <p:cNvPr id="13" name="Oval 12"/>
          <p:cNvSpPr/>
          <p:nvPr/>
        </p:nvSpPr>
        <p:spPr>
          <a:xfrm>
            <a:off x="6601968" y="4023359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3895344"/>
            <a:ext cx="42976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380" b="0">
                <a:solidFill>
                  <a:srgbClr val="F8FCFF"/>
                </a:solidFill>
                <a:latin typeface="Comic Sans MS"/>
              </a:rPr>
              <a:t>Evidence ID: created per upload</a:t>
            </a:r>
          </a:p>
        </p:txBody>
      </p:sp>
      <p:sp>
        <p:nvSpPr>
          <p:cNvPr id="15" name="Oval 14"/>
          <p:cNvSpPr/>
          <p:nvPr/>
        </p:nvSpPr>
        <p:spPr>
          <a:xfrm>
            <a:off x="6601968" y="4462272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0568" y="4334256"/>
            <a:ext cx="42976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380" b="0">
                <a:solidFill>
                  <a:srgbClr val="F8FCFF"/>
                </a:solidFill>
                <a:latin typeface="Comic Sans MS"/>
              </a:rPr>
              <a:t>Same case ID groups related files</a:t>
            </a:r>
          </a:p>
        </p:txBody>
      </p:sp>
      <p:sp>
        <p:nvSpPr>
          <p:cNvPr id="17" name="Oval 16"/>
          <p:cNvSpPr/>
          <p:nvPr/>
        </p:nvSpPr>
        <p:spPr>
          <a:xfrm>
            <a:off x="6601968" y="4901183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0568" y="4773168"/>
            <a:ext cx="42976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380" b="0">
                <a:solidFill>
                  <a:srgbClr val="F8FCFF"/>
                </a:solidFill>
                <a:latin typeface="Comic Sans MS"/>
              </a:rPr>
              <a:t>Filenames keep versions distinct</a:t>
            </a:r>
          </a:p>
        </p:txBody>
      </p:sp>
      <p:sp>
        <p:nvSpPr>
          <p:cNvPr id="19" name="Oval 18"/>
          <p:cNvSpPr/>
          <p:nvPr/>
        </p:nvSpPr>
        <p:spPr>
          <a:xfrm>
            <a:off x="6601968" y="5340095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5212079"/>
            <a:ext cx="42976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380" b="0">
                <a:solidFill>
                  <a:srgbClr val="F8FCFF"/>
                </a:solidFill>
                <a:latin typeface="Comic Sans MS"/>
              </a:rPr>
              <a:t>Example: camera note + mobile extract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6547104"/>
            <a:ext cx="68580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60" b="1">
                <a:solidFill>
                  <a:srgbClr val="D3E5F4"/>
                </a:solidFill>
                <a:latin typeface="Comic Sans MS"/>
              </a:rPr>
              <a:t>GROUP-I  |  CUSTODIA EVIDENCE 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82528" y="654710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960" b="1">
                <a:solidFill>
                  <a:srgbClr val="77DEFF"/>
                </a:solidFill>
                <a:latin typeface="Comic Sans M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38404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77DEFF"/>
                </a:solidFill>
                <a:latin typeface="Comic Sans MS"/>
              </a:rPr>
              <a:t>CUSTODIA  /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95527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700" b="1">
                <a:solidFill>
                  <a:srgbClr val="F8FCFF"/>
                </a:solidFill>
                <a:latin typeface="Comic Sans MS"/>
              </a:rPr>
              <a:t>Testing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98448"/>
            <a:ext cx="98755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439" b="0">
                <a:solidFill>
                  <a:srgbClr val="D3E5F4"/>
                </a:solidFill>
                <a:latin typeface="Comic Sans MS"/>
              </a:rPr>
              <a:t>The supplied fictional evidence files let the team demonstrate every current feature safely.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755648"/>
            <a:ext cx="11009376" cy="0"/>
          </a:xfrm>
          <a:prstGeom prst="line">
            <a:avLst/>
          </a:prstGeom>
          <a:ln w="15240">
            <a:solidFill>
              <a:srgbClr val="4173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2148840"/>
            <a:ext cx="4800600" cy="3611880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468880"/>
            <a:ext cx="182880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77DEFF"/>
                </a:solidFill>
                <a:latin typeface="Comic Sans MS"/>
              </a:rPr>
              <a:t>SAMPLE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798064"/>
            <a:ext cx="329184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200" b="1">
                <a:solidFill>
                  <a:srgbClr val="F8FCFF"/>
                </a:solidFill>
                <a:latin typeface="Comic Sans MS"/>
              </a:rPr>
              <a:t>21 fictional fixtures</a:t>
            </a:r>
          </a:p>
        </p:txBody>
      </p:sp>
      <p:sp>
        <p:nvSpPr>
          <p:cNvPr id="10" name="Oval 9"/>
          <p:cNvSpPr/>
          <p:nvPr/>
        </p:nvSpPr>
        <p:spPr>
          <a:xfrm>
            <a:off x="987552" y="3584448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6152" y="3456432"/>
            <a:ext cx="3703320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560" b="0">
                <a:solidFill>
                  <a:srgbClr val="D3E5F4"/>
                </a:solidFill>
                <a:latin typeface="Comic Sans MS"/>
              </a:rPr>
              <a:t>TXT: camera and interview notes</a:t>
            </a:r>
          </a:p>
        </p:txBody>
      </p:sp>
      <p:sp>
        <p:nvSpPr>
          <p:cNvPr id="12" name="Oval 11"/>
          <p:cNvSpPr/>
          <p:nvPr/>
        </p:nvSpPr>
        <p:spPr>
          <a:xfrm>
            <a:off x="987552" y="4014215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6152" y="3886200"/>
            <a:ext cx="3703320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560" b="0">
                <a:solidFill>
                  <a:srgbClr val="D3E5F4"/>
                </a:solidFill>
                <a:latin typeface="Comic Sans MS"/>
              </a:rPr>
              <a:t>JSON: mobile and browser extracts</a:t>
            </a:r>
          </a:p>
        </p:txBody>
      </p:sp>
      <p:sp>
        <p:nvSpPr>
          <p:cNvPr id="14" name="Oval 13"/>
          <p:cNvSpPr/>
          <p:nvPr/>
        </p:nvSpPr>
        <p:spPr>
          <a:xfrm>
            <a:off x="987552" y="4443983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16152" y="4315968"/>
            <a:ext cx="3703320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560" b="0">
                <a:solidFill>
                  <a:srgbClr val="D3E5F4"/>
                </a:solidFill>
                <a:latin typeface="Comic Sans MS"/>
              </a:rPr>
              <a:t>CSV: firewall, GPS, USB, timelines</a:t>
            </a:r>
          </a:p>
        </p:txBody>
      </p:sp>
      <p:sp>
        <p:nvSpPr>
          <p:cNvPr id="16" name="Oval 15"/>
          <p:cNvSpPr/>
          <p:nvPr/>
        </p:nvSpPr>
        <p:spPr>
          <a:xfrm>
            <a:off x="987552" y="4873751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16152" y="4745736"/>
            <a:ext cx="3703320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560" b="0">
                <a:solidFill>
                  <a:srgbClr val="D3E5F4"/>
                </a:solidFill>
                <a:latin typeface="Comic Sans MS"/>
              </a:rPr>
              <a:t>LOG, Markdown, and HTML reports</a:t>
            </a:r>
          </a:p>
        </p:txBody>
      </p:sp>
      <p:sp>
        <p:nvSpPr>
          <p:cNvPr id="18" name="Oval 17"/>
          <p:cNvSpPr/>
          <p:nvPr/>
        </p:nvSpPr>
        <p:spPr>
          <a:xfrm>
            <a:off x="987552" y="5303520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6152" y="5175504"/>
            <a:ext cx="3703320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560" b="0">
                <a:solidFill>
                  <a:srgbClr val="D3E5F4"/>
                </a:solidFill>
                <a:latin typeface="Comic Sans MS"/>
              </a:rPr>
              <a:t>Use CASE-TEST-001 to group related files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2148840"/>
            <a:ext cx="5577840" cy="3611880"/>
          </a:xfrm>
          <a:prstGeom prst="roundRect">
            <a:avLst>
              <a:gd name="adj" fmla="val 12000"/>
            </a:avLst>
          </a:prstGeom>
          <a:solidFill>
            <a:srgbClr val="153E65"/>
          </a:solidFill>
          <a:ln>
            <a:solidFill>
              <a:srgbClr val="509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2468880"/>
            <a:ext cx="21945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74EBC6"/>
                </a:solidFill>
                <a:latin typeface="Comic Sans MS"/>
              </a:rPr>
              <a:t>LIVE TEST 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926080"/>
            <a:ext cx="25603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560" b="1">
                <a:solidFill>
                  <a:srgbClr val="77DEFF"/>
                </a:solidFill>
                <a:latin typeface="Comic Sans M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2926080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439" b="1">
                <a:solidFill>
                  <a:srgbClr val="F8FCFF"/>
                </a:solidFill>
                <a:latin typeface="Comic Sans MS"/>
              </a:rPr>
              <a:t>Upload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3191256"/>
            <a:ext cx="1874519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140" b="0">
                <a:solidFill>
                  <a:srgbClr val="D3E5F4"/>
                </a:solidFill>
                <a:latin typeface="Comic Sans MS"/>
              </a:rPr>
              <a:t>Hash &amp; distribute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2926080"/>
            <a:ext cx="25603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560" b="1">
                <a:solidFill>
                  <a:srgbClr val="77DEFF"/>
                </a:solidFill>
                <a:latin typeface="Comic Sans M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9992" y="2926080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439" b="1">
                <a:solidFill>
                  <a:srgbClr val="F8FCFF"/>
                </a:solidFill>
                <a:latin typeface="Comic Sans MS"/>
              </a:rPr>
              <a:t>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2" y="3191256"/>
            <a:ext cx="1874519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140" b="0">
                <a:solidFill>
                  <a:srgbClr val="D3E5F4"/>
                </a:solidFill>
                <a:latin typeface="Comic Sans MS"/>
              </a:rPr>
              <a:t>Healthy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3675888"/>
            <a:ext cx="25603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560" b="1">
                <a:solidFill>
                  <a:srgbClr val="77DEFF"/>
                </a:solidFill>
                <a:latin typeface="Comic Sans M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3675888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439" b="1">
                <a:solidFill>
                  <a:srgbClr val="F8FCFF"/>
                </a:solidFill>
                <a:latin typeface="Comic Sans MS"/>
              </a:rPr>
              <a:t>Version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3941064"/>
            <a:ext cx="1874519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140" b="0">
                <a:solidFill>
                  <a:srgbClr val="D3E5F4"/>
                </a:solidFill>
                <a:latin typeface="Comic Sans MS"/>
              </a:rPr>
              <a:t>v1 stays immutable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3675888"/>
            <a:ext cx="25603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560" b="1">
                <a:solidFill>
                  <a:srgbClr val="77DEFF"/>
                </a:solidFill>
                <a:latin typeface="Comic Sans M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9992" y="3675888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439" b="1">
                <a:solidFill>
                  <a:srgbClr val="F8FCFF"/>
                </a:solidFill>
                <a:latin typeface="Comic Sans MS"/>
              </a:rPr>
              <a:t>Corrupt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9992" y="3941064"/>
            <a:ext cx="1874519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140" b="0">
                <a:solidFill>
                  <a:srgbClr val="D3E5F4"/>
                </a:solidFill>
                <a:latin typeface="Comic Sans MS"/>
              </a:rPr>
              <a:t>Status becomes attention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4425696"/>
            <a:ext cx="25603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560" b="1">
                <a:solidFill>
                  <a:srgbClr val="77DEFF"/>
                </a:solidFill>
                <a:latin typeface="Comic Sans M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9672" y="4425696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439" b="1">
                <a:solidFill>
                  <a:srgbClr val="F8FCFF"/>
                </a:solidFill>
                <a:latin typeface="Comic Sans MS"/>
              </a:rPr>
              <a:t>Repair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9672" y="4690872"/>
            <a:ext cx="1874519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140" b="0">
                <a:solidFill>
                  <a:srgbClr val="D3E5F4"/>
                </a:solidFill>
                <a:latin typeface="Comic Sans MS"/>
              </a:rPr>
              <a:t>Replica returns healthy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4425696"/>
            <a:ext cx="25603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560" b="1">
                <a:solidFill>
                  <a:srgbClr val="77DEFF"/>
                </a:solidFill>
                <a:latin typeface="Comic Sans M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9992" y="4425696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439" b="1">
                <a:solidFill>
                  <a:srgbClr val="F8FCFF"/>
                </a:solidFill>
                <a:latin typeface="Comic Sans MS"/>
              </a:rPr>
              <a:t>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9992" y="4690872"/>
            <a:ext cx="1874519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140" b="0">
                <a:solidFill>
                  <a:srgbClr val="D3E5F4"/>
                </a:solidFill>
                <a:latin typeface="Comic Sans MS"/>
              </a:rPr>
              <a:t>JSON custody export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" y="6547104"/>
            <a:ext cx="68580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60" b="1">
                <a:solidFill>
                  <a:srgbClr val="D3E5F4"/>
                </a:solidFill>
                <a:latin typeface="Comic Sans MS"/>
              </a:rPr>
              <a:t>GROUP-I  |  CUSTODIA EVIDENCE NETWORK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82528" y="654710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960" b="1">
                <a:solidFill>
                  <a:srgbClr val="77DEFF"/>
                </a:solidFill>
                <a:latin typeface="Comic Sans M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38404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77DEFF"/>
                </a:solidFill>
                <a:latin typeface="Comic Sans MS"/>
              </a:rPr>
              <a:t>CUSTODIA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95527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700" b="1">
                <a:solidFill>
                  <a:srgbClr val="F8FCFF"/>
                </a:solidFill>
                <a:latin typeface="Comic Sans MS"/>
              </a:rPr>
              <a:t>Who uses Custodia?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98448"/>
            <a:ext cx="98755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439" b="0">
                <a:solidFill>
                  <a:srgbClr val="D3E5F4"/>
                </a:solidFill>
                <a:latin typeface="Comic Sans MS"/>
              </a:rPr>
              <a:t>The prototype makes responsibilities visible for investigators, examiners, and administrators.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755648"/>
            <a:ext cx="11009376" cy="0"/>
          </a:xfrm>
          <a:prstGeom prst="line">
            <a:avLst/>
          </a:prstGeom>
          <a:ln w="15240">
            <a:solidFill>
              <a:srgbClr val="4173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49808" y="2331720"/>
            <a:ext cx="2788920" cy="2697480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7552" y="2615184"/>
            <a:ext cx="603504" cy="60350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615184"/>
            <a:ext cx="603504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2039" b="1">
                <a:solidFill>
                  <a:srgbClr val="091A30"/>
                </a:solidFill>
                <a:latin typeface="Comic Sans MS"/>
              </a:rP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724912"/>
            <a:ext cx="164592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77DEFF"/>
                </a:solidFill>
                <a:latin typeface="Comic Sans MS"/>
              </a:rPr>
              <a:t>INVESTIGATOR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2249424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500" b="0">
                <a:solidFill>
                  <a:srgbClr val="F8FCFF"/>
                </a:solidFill>
                <a:latin typeface="Comic Sans MS"/>
              </a:rPr>
              <a:t>Register new evidence, add notes, create versions, and follow case activity.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99432"/>
            <a:ext cx="224028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200" b="1">
                <a:solidFill>
                  <a:srgbClr val="D3E5F4"/>
                </a:solidFill>
                <a:latin typeface="Comic Sans MS"/>
              </a:rPr>
              <a:t>Permission depends on role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2331720"/>
            <a:ext cx="2788920" cy="2697480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23944" y="2615184"/>
            <a:ext cx="603504" cy="603504"/>
          </a:xfrm>
          <a:prstGeom prst="ellipse">
            <a:avLst/>
          </a:prstGeom>
          <a:solidFill>
            <a:srgbClr val="74EBC6"/>
          </a:solidFill>
          <a:ln>
            <a:solidFill>
              <a:srgbClr val="74EB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23944" y="2615184"/>
            <a:ext cx="603504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2039" b="1">
                <a:solidFill>
                  <a:srgbClr val="091A30"/>
                </a:solidFill>
                <a:latin typeface="Comic Sans MS"/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3752" y="2724912"/>
            <a:ext cx="164592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74EBC6"/>
                </a:solidFill>
                <a:latin typeface="Comic Sans MS"/>
              </a:rPr>
              <a:t>EXAMINER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2232" y="3566160"/>
            <a:ext cx="2249424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500" b="0">
                <a:solidFill>
                  <a:srgbClr val="F8FCFF"/>
                </a:solidFill>
                <a:latin typeface="Comic Sans MS"/>
              </a:rPr>
              <a:t>Download files, check hashes, compare versions, and produce a custody report.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42232" y="4599432"/>
            <a:ext cx="224028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200" b="1">
                <a:solidFill>
                  <a:srgbClr val="D3E5F4"/>
                </a:solidFill>
                <a:latin typeface="Comic Sans MS"/>
              </a:rPr>
              <a:t>Permission depends on role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22592" y="2331720"/>
            <a:ext cx="2788920" cy="2697480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60336" y="2615184"/>
            <a:ext cx="603504" cy="603504"/>
          </a:xfrm>
          <a:prstGeom prst="ellipse">
            <a:avLst/>
          </a:prstGeom>
          <a:solidFill>
            <a:srgbClr val="F6B859"/>
          </a:solidFill>
          <a:ln>
            <a:solidFill>
              <a:srgbClr val="F6B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0336" y="2615184"/>
            <a:ext cx="603504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2039" b="1">
                <a:solidFill>
                  <a:srgbClr val="091A30"/>
                </a:solidFill>
                <a:latin typeface="Comic Sans MS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0144" y="2724912"/>
            <a:ext cx="164592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F6B859"/>
                </a:solidFill>
                <a:latin typeface="Comic Sans MS"/>
              </a:rPr>
              <a:t>ADMINISTRATOR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78624" y="3566160"/>
            <a:ext cx="2249424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500" b="0">
                <a:solidFill>
                  <a:srgbClr val="F8FCFF"/>
                </a:solidFill>
                <a:latin typeface="Comic Sans MS"/>
              </a:rPr>
              <a:t>Repair replicas, simulate faults, review audit events, and manage system health.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78624" y="4599432"/>
            <a:ext cx="224028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200" b="1">
                <a:solidFill>
                  <a:srgbClr val="D3E5F4"/>
                </a:solidFill>
                <a:latin typeface="Comic Sans MS"/>
              </a:rPr>
              <a:t>Permission depends on role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65960" y="5413248"/>
            <a:ext cx="8183879" cy="493776"/>
          </a:xfrm>
          <a:prstGeom prst="roundRect">
            <a:avLst>
              <a:gd name="adj" fmla="val 12000"/>
            </a:avLst>
          </a:prstGeom>
          <a:solidFill>
            <a:srgbClr val="0B2440"/>
          </a:solidFill>
          <a:ln>
            <a:solidFill>
              <a:srgbClr val="509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76272" y="5413248"/>
            <a:ext cx="777240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439" b="1">
                <a:solidFill>
                  <a:srgbClr val="F6B859"/>
                </a:solidFill>
                <a:latin typeface="Comic Sans MS"/>
              </a:rPr>
              <a:t>Use fictional files for demonstrations; never upload real sensitive evidence to this prototype.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" y="6547104"/>
            <a:ext cx="68580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60" b="1">
                <a:solidFill>
                  <a:srgbClr val="D3E5F4"/>
                </a:solidFill>
                <a:latin typeface="Comic Sans MS"/>
              </a:rPr>
              <a:t>GROUP-I  |  CUSTODIA EVIDENCE NETWORK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82528" y="654710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960" b="1">
                <a:solidFill>
                  <a:srgbClr val="77DEFF"/>
                </a:solidFill>
                <a:latin typeface="Comic Sans M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38404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77DEFF"/>
                </a:solidFill>
                <a:latin typeface="Comic Sans MS"/>
              </a:rPr>
              <a:t>CUSTODIA  / 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95527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700" b="1">
                <a:solidFill>
                  <a:srgbClr val="F8FCFF"/>
                </a:solidFill>
                <a:latin typeface="Comic Sans MS"/>
              </a:rPr>
              <a:t>Benefits today, improvements tomorrow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98448"/>
            <a:ext cx="98755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439" b="0">
                <a:solidFill>
                  <a:srgbClr val="D3E5F4"/>
                </a:solidFill>
                <a:latin typeface="Comic Sans MS"/>
              </a:rPr>
              <a:t>Custodia is a strong learning prototype with a clear path toward production infrastructure.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755648"/>
            <a:ext cx="11009376" cy="0"/>
          </a:xfrm>
          <a:prstGeom prst="line">
            <a:avLst/>
          </a:prstGeom>
          <a:ln w="15240">
            <a:solidFill>
              <a:srgbClr val="4173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2148840"/>
            <a:ext cx="5394960" cy="3611880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468880"/>
            <a:ext cx="228600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74EBC6"/>
                </a:solidFill>
                <a:latin typeface="Comic Sans MS"/>
              </a:rPr>
              <a:t>CURRENT BENEFITS</a:t>
            </a:r>
          </a:p>
        </p:txBody>
      </p:sp>
      <p:sp>
        <p:nvSpPr>
          <p:cNvPr id="9" name="Oval 8"/>
          <p:cNvSpPr/>
          <p:nvPr/>
        </p:nvSpPr>
        <p:spPr>
          <a:xfrm>
            <a:off x="987552" y="3035808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6152" y="2907792"/>
            <a:ext cx="43434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0">
                <a:solidFill>
                  <a:srgbClr val="F8FCFF"/>
                </a:solidFill>
                <a:latin typeface="Comic Sans MS"/>
              </a:rPr>
              <a:t>Tamper detection with SHA-256</a:t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3538728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16152" y="3410712"/>
            <a:ext cx="43434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0">
                <a:solidFill>
                  <a:srgbClr val="F8FCFF"/>
                </a:solidFill>
                <a:latin typeface="Comic Sans MS"/>
              </a:rPr>
              <a:t>Redundant storage and quorum reads</a:t>
            </a:r>
          </a:p>
        </p:txBody>
      </p:sp>
      <p:sp>
        <p:nvSpPr>
          <p:cNvPr id="13" name="Oval 12"/>
          <p:cNvSpPr/>
          <p:nvPr/>
        </p:nvSpPr>
        <p:spPr>
          <a:xfrm>
            <a:off x="987552" y="4041648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3913632"/>
            <a:ext cx="43434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0">
                <a:solidFill>
                  <a:srgbClr val="F8FCFF"/>
                </a:solidFill>
                <a:latin typeface="Comic Sans MS"/>
              </a:rPr>
              <a:t>Automatic corruption recovery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544568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6152" y="4416552"/>
            <a:ext cx="43434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0">
                <a:solidFill>
                  <a:srgbClr val="F8FCFF"/>
                </a:solidFill>
                <a:latin typeface="Comic Sans MS"/>
              </a:rPr>
              <a:t>Immutable version history</a:t>
            </a:r>
          </a:p>
        </p:txBody>
      </p:sp>
      <p:sp>
        <p:nvSpPr>
          <p:cNvPr id="17" name="Oval 16"/>
          <p:cNvSpPr/>
          <p:nvPr/>
        </p:nvSpPr>
        <p:spPr>
          <a:xfrm>
            <a:off x="987552" y="5047488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6152" y="4919472"/>
            <a:ext cx="43434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0">
                <a:solidFill>
                  <a:srgbClr val="F8FCFF"/>
                </a:solidFill>
                <a:latin typeface="Comic Sans MS"/>
              </a:rPr>
              <a:t>Role-based actions and audit reports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148840"/>
            <a:ext cx="5074920" cy="3611880"/>
          </a:xfrm>
          <a:prstGeom prst="roundRect">
            <a:avLst>
              <a:gd name="adj" fmla="val 12000"/>
            </a:avLst>
          </a:prstGeom>
          <a:solidFill>
            <a:srgbClr val="153E65"/>
          </a:solidFill>
          <a:ln>
            <a:solidFill>
              <a:srgbClr val="509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468880"/>
            <a:ext cx="256032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F6B859"/>
                </a:solidFill>
                <a:latin typeface="Comic Sans MS"/>
              </a:rPr>
              <a:t>NEXT ADVANCED STEPS</a:t>
            </a:r>
          </a:p>
        </p:txBody>
      </p:sp>
      <p:sp>
        <p:nvSpPr>
          <p:cNvPr id="21" name="Oval 20"/>
          <p:cNvSpPr/>
          <p:nvPr/>
        </p:nvSpPr>
        <p:spPr>
          <a:xfrm>
            <a:off x="6675120" y="3035808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2907792"/>
            <a:ext cx="3977639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0">
                <a:solidFill>
                  <a:srgbClr val="F8FCFF"/>
                </a:solidFill>
                <a:latin typeface="Comic Sans MS"/>
              </a:rPr>
              <a:t>PostgreSQL + database migrations</a:t>
            </a:r>
          </a:p>
        </p:txBody>
      </p:sp>
      <p:sp>
        <p:nvSpPr>
          <p:cNvPr id="23" name="Oval 22"/>
          <p:cNvSpPr/>
          <p:nvPr/>
        </p:nvSpPr>
        <p:spPr>
          <a:xfrm>
            <a:off x="6675120" y="3538728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3410712"/>
            <a:ext cx="3977639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0">
                <a:solidFill>
                  <a:srgbClr val="F8FCFF"/>
                </a:solidFill>
                <a:latin typeface="Comic Sans MS"/>
              </a:rPr>
              <a:t>MinIO/S3 storage on separate servers</a:t>
            </a:r>
          </a:p>
        </p:txBody>
      </p:sp>
      <p:sp>
        <p:nvSpPr>
          <p:cNvPr id="25" name="Oval 24"/>
          <p:cNvSpPr/>
          <p:nvPr/>
        </p:nvSpPr>
        <p:spPr>
          <a:xfrm>
            <a:off x="6675120" y="4041648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3913632"/>
            <a:ext cx="3977639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0">
                <a:solidFill>
                  <a:srgbClr val="F8FCFF"/>
                </a:solidFill>
                <a:latin typeface="Comic Sans MS"/>
              </a:rPr>
              <a:t>Real login, MFA, and JWT/OIDC</a:t>
            </a:r>
          </a:p>
        </p:txBody>
      </p:sp>
      <p:sp>
        <p:nvSpPr>
          <p:cNvPr id="27" name="Oval 26"/>
          <p:cNvSpPr/>
          <p:nvPr/>
        </p:nvSpPr>
        <p:spPr>
          <a:xfrm>
            <a:off x="6675120" y="4544568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4416552"/>
            <a:ext cx="3977639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0">
                <a:solidFill>
                  <a:srgbClr val="F8FCFF"/>
                </a:solidFill>
                <a:latin typeface="Comic Sans MS"/>
              </a:rPr>
              <a:t>AES-256 encryption with KMS</a:t>
            </a:r>
          </a:p>
        </p:txBody>
      </p:sp>
      <p:sp>
        <p:nvSpPr>
          <p:cNvPr id="29" name="Oval 28"/>
          <p:cNvSpPr/>
          <p:nvPr/>
        </p:nvSpPr>
        <p:spPr>
          <a:xfrm>
            <a:off x="6675120" y="5047488"/>
            <a:ext cx="100584" cy="100584"/>
          </a:xfrm>
          <a:prstGeom prst="ellipse">
            <a:avLst/>
          </a:prstGeom>
          <a:solidFill>
            <a:srgbClr val="77DEFF"/>
          </a:solidFill>
          <a:ln>
            <a:solidFill>
              <a:srgbClr val="77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4919472"/>
            <a:ext cx="3977639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80" b="0">
                <a:solidFill>
                  <a:srgbClr val="F8FCFF"/>
                </a:solidFill>
                <a:latin typeface="Comic Sans MS"/>
              </a:rPr>
              <a:t>Scheduled workers, alerts, OCR, and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6016752"/>
            <a:ext cx="996696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320" b="1">
                <a:solidFill>
                  <a:srgbClr val="F6B859"/>
                </a:solidFill>
                <a:latin typeface="Comic Sans MS"/>
              </a:rPr>
              <a:t>Important: the current nodes are local folders and users are demo identities.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" y="6547104"/>
            <a:ext cx="68580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60" b="1">
                <a:solidFill>
                  <a:srgbClr val="D3E5F4"/>
                </a:solidFill>
                <a:latin typeface="Comic Sans MS"/>
              </a:rPr>
              <a:t>GROUP-I  |  CUSTODIA EVIDENCE NETWORK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82528" y="654710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960" b="1">
                <a:solidFill>
                  <a:srgbClr val="77DEFF"/>
                </a:solidFill>
                <a:latin typeface="Comic Sans M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38404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77DEFF"/>
                </a:solidFill>
                <a:latin typeface="Comic Sans MS"/>
              </a:rPr>
              <a:t>CUSTODIA  / 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95527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700" b="1">
                <a:solidFill>
                  <a:srgbClr val="F8FCFF"/>
                </a:solidFill>
                <a:latin typeface="Comic Sans MS"/>
              </a:rPr>
              <a:t>Roadmap to an advanced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98448"/>
            <a:ext cx="98755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439" b="0">
                <a:solidFill>
                  <a:srgbClr val="D3E5F4"/>
                </a:solidFill>
                <a:latin typeface="Comic Sans MS"/>
              </a:rPr>
              <a:t>The current prototype demonstrates the workflow; these upgrades prepare it for real organizations.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755648"/>
            <a:ext cx="11009376" cy="0"/>
          </a:xfrm>
          <a:prstGeom prst="line">
            <a:avLst/>
          </a:prstGeom>
          <a:ln w="15240">
            <a:solidFill>
              <a:srgbClr val="4173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49808" y="2468880"/>
            <a:ext cx="2468880" cy="2240280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2761488"/>
            <a:ext cx="91440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77DEFF"/>
                </a:solidFill>
                <a:latin typeface="Comic Sans MS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7" y="3154680"/>
            <a:ext cx="192024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039" b="1">
                <a:solidFill>
                  <a:srgbClr val="F8FCFF"/>
                </a:solidFill>
                <a:latin typeface="Comic Sans MS"/>
              </a:rPr>
              <a:t>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3675887"/>
            <a:ext cx="192024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320" b="0">
                <a:solidFill>
                  <a:srgbClr val="D3E5F4"/>
                </a:solidFill>
                <a:latin typeface="Comic Sans MS"/>
              </a:rPr>
              <a:t>metadata.json, local node folders, demo identities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18688" y="3584448"/>
            <a:ext cx="292608" cy="0"/>
          </a:xfrm>
          <a:prstGeom prst="line">
            <a:avLst/>
          </a:prstGeom>
          <a:ln w="25400">
            <a:solidFill>
              <a:srgbClr val="77D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84448" y="2468880"/>
            <a:ext cx="2468880" cy="2240280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3048" y="2761488"/>
            <a:ext cx="91440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74EBC6"/>
                </a:solidFill>
                <a:latin typeface="Comic Sans MS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3154680"/>
            <a:ext cx="192024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039" b="1">
                <a:solidFill>
                  <a:srgbClr val="F8FCFF"/>
                </a:solidFill>
                <a:latin typeface="Comic Sans MS"/>
              </a:rPr>
              <a:t>Reliable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3675887"/>
            <a:ext cx="192024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320" b="0">
                <a:solidFill>
                  <a:srgbClr val="D3E5F4"/>
                </a:solidFill>
                <a:latin typeface="Comic Sans MS"/>
              </a:rPr>
              <a:t>PostgreSQL, migrations, MinIO/S3, background jobs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53328" y="3584448"/>
            <a:ext cx="292608" cy="0"/>
          </a:xfrm>
          <a:prstGeom prst="line">
            <a:avLst/>
          </a:prstGeom>
          <a:ln w="25400">
            <a:solidFill>
              <a:srgbClr val="77D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19088" y="2468880"/>
            <a:ext cx="2468880" cy="2240280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2761488"/>
            <a:ext cx="91440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F6B859"/>
                </a:solidFill>
                <a:latin typeface="Comic Sans MS"/>
              </a:rPr>
              <a:t>LATER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3154680"/>
            <a:ext cx="192024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039" b="1">
                <a:solidFill>
                  <a:srgbClr val="F8FCFF"/>
                </a:solidFill>
                <a:latin typeface="Comic Sans MS"/>
              </a:rPr>
              <a:t>Production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3675887"/>
            <a:ext cx="192024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320" b="0">
                <a:solidFill>
                  <a:srgbClr val="D3E5F4"/>
                </a:solidFill>
                <a:latin typeface="Comic Sans MS"/>
              </a:rPr>
              <a:t>AES-256, KMS, TLS, MFA, signed transfers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87968" y="3584448"/>
            <a:ext cx="292608" cy="0"/>
          </a:xfrm>
          <a:prstGeom prst="line">
            <a:avLst/>
          </a:prstGeom>
          <a:ln w="25400">
            <a:solidFill>
              <a:srgbClr val="77D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253728" y="2468880"/>
            <a:ext cx="2468880" cy="2240280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3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82328" y="2761488"/>
            <a:ext cx="91440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F77E89"/>
                </a:solidFill>
                <a:latin typeface="Comic Sans MS"/>
              </a:rPr>
              <a:t>GOAL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2328" y="3154680"/>
            <a:ext cx="192024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039" b="1">
                <a:solidFill>
                  <a:srgbClr val="F8FCFF"/>
                </a:solidFill>
                <a:latin typeface="Comic Sans MS"/>
              </a:rPr>
              <a:t>Operational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3675887"/>
            <a:ext cx="192024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320" b="0">
                <a:solidFill>
                  <a:srgbClr val="D3E5F4"/>
                </a:solidFill>
                <a:latin typeface="Comic Sans MS"/>
              </a:rPr>
              <a:t>OCR, malware scanning, alerts, reports, retention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74519" y="5230368"/>
            <a:ext cx="8412480" cy="530352"/>
          </a:xfrm>
          <a:prstGeom prst="roundRect">
            <a:avLst>
              <a:gd name="adj" fmla="val 12000"/>
            </a:avLst>
          </a:prstGeom>
          <a:solidFill>
            <a:srgbClr val="0B2440"/>
          </a:solidFill>
          <a:ln>
            <a:solidFill>
              <a:srgbClr val="509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84831" y="5230368"/>
            <a:ext cx="80010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560" b="1">
                <a:solidFill>
                  <a:srgbClr val="F8FCFF"/>
                </a:solidFill>
                <a:latin typeface="Comic Sans MS"/>
              </a:rPr>
              <a:t>Build one trust layer at a time: data → storage → security → automation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" y="6547104"/>
            <a:ext cx="68580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60" b="1">
                <a:solidFill>
                  <a:srgbClr val="D3E5F4"/>
                </a:solidFill>
                <a:latin typeface="Comic Sans MS"/>
              </a:rPr>
              <a:t>GROUP-I  |  CUSTODIA EVIDENCE NETWORK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82528" y="654710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960" b="1">
                <a:solidFill>
                  <a:srgbClr val="77DEFF"/>
                </a:solidFill>
                <a:latin typeface="Comic Sans M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1078992"/>
            <a:ext cx="274320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80" b="1">
                <a:solidFill>
                  <a:srgbClr val="74EBC6"/>
                </a:solidFill>
                <a:latin typeface="Comic Sans MS"/>
              </a:rPr>
              <a:t>GROUP-I  / 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828800"/>
            <a:ext cx="7863840" cy="11430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3200" b="1">
                <a:solidFill>
                  <a:srgbClr val="F8FCFF"/>
                </a:solidFill>
                <a:latin typeface="Comic Sans MS"/>
              </a:rPr>
              <a:t>Every byte accounted for.
Every action attributable.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310128"/>
            <a:ext cx="7132320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920" b="0">
                <a:solidFill>
                  <a:srgbClr val="D3E5F4"/>
                </a:solidFill>
                <a:latin typeface="Comic Sans MS"/>
              </a:rPr>
              <a:t>Custodia demonstrates how hashing, replication, recovery, and audit history work together to protect digital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160520"/>
            <a:ext cx="43891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280" b="1">
                <a:solidFill>
                  <a:srgbClr val="77DEFF"/>
                </a:solidFill>
                <a:latin typeface="Comic Sans MS"/>
              </a:rPr>
              <a:t>Questions and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4663440"/>
            <a:ext cx="3931920" cy="658368"/>
          </a:xfrm>
          <a:prstGeom prst="roundRect">
            <a:avLst>
              <a:gd name="adj" fmla="val 12000"/>
            </a:avLst>
          </a:prstGeom>
          <a:solidFill>
            <a:srgbClr val="102F4F"/>
          </a:solidFill>
          <a:ln>
            <a:solidFill>
              <a:srgbClr val="509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4663440"/>
            <a:ext cx="34564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680" b="1">
                <a:solidFill>
                  <a:srgbClr val="F8FCFF"/>
                </a:solidFill>
                <a:latin typeface="Comic Sans MS"/>
              </a:rPr>
              <a:t>CUSTODIA  |  DIGITAL FORENSICS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6547104"/>
            <a:ext cx="68580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60" b="1">
                <a:solidFill>
                  <a:srgbClr val="D3E5F4"/>
                </a:solidFill>
                <a:latin typeface="Comic Sans MS"/>
              </a:rPr>
              <a:t>GROUP-I  |  CUSTODIA EVIDENCE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82528" y="654710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960" b="1">
                <a:solidFill>
                  <a:srgbClr val="77DEFF"/>
                </a:solidFill>
                <a:latin typeface="Comic Sans M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Custodia - Distributed Digital Evidence</dc:title>
  <dc:subject>Group-I forensic evidence project presentation</dc:subject>
  <dc:creator>Group-I</dc:creator>
  <cp:keywords>digital forensics, chain of custody, SHA-256, quorum storage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